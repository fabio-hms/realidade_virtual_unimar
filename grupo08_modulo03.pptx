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Estilo Médio 2 - Ênfase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25" autoAdjust="0"/>
    <p:restoredTop sz="94660"/>
  </p:normalViewPr>
  <p:slideViewPr>
    <p:cSldViewPr snapToGrid="0">
      <p:cViewPr varScale="1">
        <p:scale>
          <a:sx n="77" d="100"/>
          <a:sy n="77" d="100"/>
        </p:scale>
        <p:origin x="30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7BAA-2C08-4D52-BD11-E6129F068E42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A8CB-3F84-4786-8474-BAC86D182A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5748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7BAA-2C08-4D52-BD11-E6129F068E42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A8CB-3F84-4786-8474-BAC86D182A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533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7BAA-2C08-4D52-BD11-E6129F068E42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A8CB-3F84-4786-8474-BAC86D182A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870005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7BAA-2C08-4D52-BD11-E6129F068E42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A8CB-3F84-4786-8474-BAC86D182A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0104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7BAA-2C08-4D52-BD11-E6129F068E42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A8CB-3F84-4786-8474-BAC86D182A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471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7BAA-2C08-4D52-BD11-E6129F068E42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A8CB-3F84-4786-8474-BAC86D182A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58598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7BAA-2C08-4D52-BD11-E6129F068E42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A8CB-3F84-4786-8474-BAC86D182A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18415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7BAA-2C08-4D52-BD11-E6129F068E42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A8CB-3F84-4786-8474-BAC86D182A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235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7BAA-2C08-4D52-BD11-E6129F068E42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A8CB-3F84-4786-8474-BAC86D182A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04290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7BAA-2C08-4D52-BD11-E6129F068E42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A8CB-3F84-4786-8474-BAC86D182A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8825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7BAA-2C08-4D52-BD11-E6129F068E42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A8CB-3F84-4786-8474-BAC86D182A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93571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7BAA-2C08-4D52-BD11-E6129F068E42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A8CB-3F84-4786-8474-BAC86D182AAE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59876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7BAA-2C08-4D52-BD11-E6129F068E42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A8CB-3F84-4786-8474-BAC86D182A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95191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7BAA-2C08-4D52-BD11-E6129F068E42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A8CB-3F84-4786-8474-BAC86D182A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930594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7BAA-2C08-4D52-BD11-E6129F068E42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A8CB-3F84-4786-8474-BAC86D182A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83126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7BAA-2C08-4D52-BD11-E6129F068E42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A8CB-3F84-4786-8474-BAC86D182A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1758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C7BAA-2C08-4D52-BD11-E6129F068E42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10A8CB-3F84-4786-8474-BAC86D182A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72301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005C7BAA-2C08-4D52-BD11-E6129F068E42}" type="datetimeFigureOut">
              <a:rPr lang="pt-BR" smtClean="0"/>
              <a:t>27/09/2026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10A8CB-3F84-4786-8474-BAC86D182AA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356286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A465C6-22C3-49F8-9CBB-C9E5D9E0AB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58060"/>
            <a:ext cx="11937303" cy="2322280"/>
          </a:xfrm>
        </p:spPr>
        <p:txBody>
          <a:bodyPr/>
          <a:lstStyle/>
          <a:p>
            <a:r>
              <a:rPr lang="pt-BR" sz="6000" dirty="0">
                <a:latin typeface="Arial" panose="020B0604020202020204" pitchFamily="34" charset="0"/>
                <a:cs typeface="Arial" panose="020B0604020202020204" pitchFamily="34" charset="0"/>
              </a:rPr>
              <a:t>QUADRO ELÉTRICO EM TRILHO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8CE2C0F-22BB-4DAA-A76B-45A7F77E66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243" y="3429000"/>
            <a:ext cx="11421176" cy="3172216"/>
          </a:xfrm>
        </p:spPr>
        <p:txBody>
          <a:bodyPr>
            <a:normAutofit/>
          </a:bodyPr>
          <a:lstStyle/>
          <a:p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Grupo 8 – Integrantes:</a:t>
            </a:r>
            <a:endParaRPr lang="pt-BR" b="0" i="0" u="none" strike="noStrike" baseline="0" dirty="0">
              <a:latin typeface="Arial" panose="020B0604020202020204" pitchFamily="34" charset="0"/>
            </a:endParaRPr>
          </a:p>
          <a:p>
            <a:r>
              <a:rPr lang="pt-BR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- Fábio Henrique Miguel Silva</a:t>
            </a:r>
          </a:p>
          <a:p>
            <a:r>
              <a:rPr lang="pt-BR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- Luís Fernando </a:t>
            </a:r>
            <a:r>
              <a:rPr lang="pt-BR" b="0" i="0" u="none" strike="noStrike" baseline="0" dirty="0" err="1">
                <a:solidFill>
                  <a:srgbClr val="FFFFFF"/>
                </a:solidFill>
                <a:latin typeface="Arial" panose="020B0604020202020204" pitchFamily="34" charset="0"/>
              </a:rPr>
              <a:t>Kameda</a:t>
            </a:r>
            <a:r>
              <a:rPr lang="pt-BR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pt-BR" b="0" i="0" u="none" strike="noStrike" baseline="0" dirty="0" err="1">
                <a:solidFill>
                  <a:srgbClr val="FFFFFF"/>
                </a:solidFill>
                <a:latin typeface="Arial" panose="020B0604020202020204" pitchFamily="34" charset="0"/>
              </a:rPr>
              <a:t>Carvajhal</a:t>
            </a:r>
            <a:endParaRPr lang="pt-BR" b="0" i="0" u="none" strike="noStrik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pt-BR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- Pedro Henrique Barbosa</a:t>
            </a:r>
          </a:p>
          <a:p>
            <a:r>
              <a:rPr lang="pt-BR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- João </a:t>
            </a:r>
            <a:r>
              <a:rPr lang="pt-BR" b="0" i="0" u="none" strike="noStrike" baseline="0" dirty="0" err="1">
                <a:solidFill>
                  <a:srgbClr val="FFFFFF"/>
                </a:solidFill>
                <a:latin typeface="Arial" panose="020B0604020202020204" pitchFamily="34" charset="0"/>
              </a:rPr>
              <a:t>GuilhermE</a:t>
            </a:r>
            <a:r>
              <a:rPr lang="pt-BR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 </a:t>
            </a:r>
            <a:r>
              <a:rPr lang="pt-BR" b="0" i="0" u="none" strike="noStrike" baseline="0" dirty="0" err="1">
                <a:solidFill>
                  <a:srgbClr val="FFFFFF"/>
                </a:solidFill>
                <a:latin typeface="Arial" panose="020B0604020202020204" pitchFamily="34" charset="0"/>
              </a:rPr>
              <a:t>Sabongi</a:t>
            </a:r>
            <a:endParaRPr lang="pt-BR" b="0" i="0" u="none" strike="noStrik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BR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Repositório: </a:t>
            </a:r>
            <a:r>
              <a:rPr lang="pt-BR" sz="16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github.com/Fabio-</a:t>
            </a:r>
            <a:r>
              <a:rPr lang="pt-BR" sz="1600" b="0" i="0" u="none" strike="noStrike" baseline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hms</a:t>
            </a:r>
            <a:r>
              <a:rPr lang="pt-BR" sz="16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pt-BR" sz="1600" b="0" i="0" u="none" strike="noStrike" baseline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Realidade_virtual_unimar</a:t>
            </a:r>
            <a:endParaRPr lang="pt-BR" sz="1800" b="0" i="0" u="none" strike="noStrike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pt-BR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863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198BA1-D9C2-404C-8F78-246023C66D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 CENA E A TAREFA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D5880E-DFB7-4BAC-8FD4-9FB57F93F7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427456"/>
            <a:ext cx="11028147" cy="3777622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pt-BR" dirty="0">
                <a:latin typeface="Arial" panose="020B0604020202020204" pitchFamily="34" charset="0"/>
              </a:rPr>
              <a:t>Tarefa: </a:t>
            </a:r>
            <a:r>
              <a:rPr lang="pt-BR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encaixar 6 disjuntores no trilho e, depois, posicionar o barramento para concluir o quadro.</a:t>
            </a:r>
          </a:p>
          <a:p>
            <a:pPr marL="0" indent="0" algn="l">
              <a:buNone/>
            </a:pPr>
            <a:endParaRPr lang="pt-BR" b="0" i="0" u="none" strike="noStrike" baseline="0" dirty="0">
              <a:latin typeface="Arial" panose="020B0604020202020204" pitchFamily="34" charset="0"/>
            </a:endParaRPr>
          </a:p>
          <a:p>
            <a:pPr marL="0" indent="0">
              <a:buNone/>
            </a:pPr>
            <a:r>
              <a:rPr lang="pt-BR" b="0" i="0" u="none" strike="noStrike" baseline="0" dirty="0">
                <a:latin typeface="Arial" panose="020B0604020202020204" pitchFamily="34" charset="0"/>
              </a:rPr>
              <a:t>Estado de conclusão:                                  </a:t>
            </a:r>
            <a:r>
              <a:rPr lang="pt-BR" sz="1800" b="0" i="0" u="none" strike="noStrike" baseline="0" dirty="0">
                <a:latin typeface="Arial" panose="020B0604020202020204" pitchFamily="34" charset="0"/>
              </a:rPr>
              <a:t> </a:t>
            </a:r>
          </a:p>
          <a:p>
            <a:pPr marL="0" indent="0">
              <a:buNone/>
            </a:pPr>
            <a:r>
              <a:rPr lang="pt-BR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	6 disjuntores válidos</a:t>
            </a:r>
          </a:p>
          <a:p>
            <a:pPr marL="0" indent="0">
              <a:buNone/>
            </a:pPr>
            <a:r>
              <a:rPr lang="pt-BR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	Posição dentro da tolerância</a:t>
            </a:r>
          </a:p>
          <a:p>
            <a:pPr marL="0" indent="0">
              <a:buNone/>
            </a:pPr>
            <a:r>
              <a:rPr lang="pt-BR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	Orientação dentro da tolerância</a:t>
            </a:r>
          </a:p>
          <a:p>
            <a:pPr marL="0" indent="0">
              <a:buNone/>
            </a:pPr>
            <a:r>
              <a:rPr lang="pt-BR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	Barramento encaixado</a:t>
            </a:r>
          </a:p>
          <a:p>
            <a:pPr marL="0" indent="0">
              <a:buNone/>
            </a:pPr>
            <a:r>
              <a:rPr lang="pt-BR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	Indicador de conclusão ligado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DCE7522-323D-47AB-9670-1C9694E0A2D4}"/>
              </a:ext>
            </a:extLst>
          </p:cNvPr>
          <p:cNvSpPr txBox="1"/>
          <p:nvPr/>
        </p:nvSpPr>
        <p:spPr>
          <a:xfrm>
            <a:off x="6160184" y="2399757"/>
            <a:ext cx="4985359" cy="2805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pt-BR" sz="2000" b="0" i="0" u="none" strike="noStrike" baseline="0" dirty="0">
                <a:latin typeface="Arial" panose="020B0604020202020204" pitchFamily="34" charset="0"/>
              </a:rPr>
              <a:t>Escalas:                                 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20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Placa: 0,50 × 0,40 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20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Trilho: 0,40 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20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Disjuntor: 0,018 × 0,080 × 0,070 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20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Barramento: 0,35 m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pt-BR" sz="20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Apoio: 0,80 × 0,60 m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2B9C7A-A774-4F4E-BED4-1AAB8801D6EF}"/>
              </a:ext>
            </a:extLst>
          </p:cNvPr>
          <p:cNvSpPr txBox="1"/>
          <p:nvPr/>
        </p:nvSpPr>
        <p:spPr>
          <a:xfrm>
            <a:off x="646111" y="5473874"/>
            <a:ext cx="1079015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solidFill>
                  <a:srgbClr val="FFFFFF"/>
                </a:solidFill>
                <a:latin typeface="Arial" panose="020B0604020202020204" pitchFamily="34" charset="0"/>
              </a:rPr>
              <a:t>A</a:t>
            </a:r>
            <a:r>
              <a:rPr lang="pt-BR" sz="20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 dificuldade está no </a:t>
            </a:r>
            <a:r>
              <a:rPr lang="pt-BR" sz="2000" b="1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encaixe espacial</a:t>
            </a:r>
            <a:r>
              <a:rPr lang="pt-BR" sz="20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, principalmente nas tolerâncias deposição e orientação. A própria especificação aponta como armadilha tornar o encaixe permissivo ou restritivo demais.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2162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407122-01EA-4FA6-8E3D-2A9BD8D405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OS TRÊS REGIMES</a:t>
            </a:r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8A3CFB09-110C-49DE-8A48-882E48ACD29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5608546"/>
              </p:ext>
            </p:extLst>
          </p:nvPr>
        </p:nvGraphicFramePr>
        <p:xfrm>
          <a:off x="1061048" y="1867809"/>
          <a:ext cx="10069904" cy="301734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2517476">
                  <a:extLst>
                    <a:ext uri="{9D8B030D-6E8A-4147-A177-3AD203B41FA5}">
                      <a16:colId xmlns:a16="http://schemas.microsoft.com/office/drawing/2014/main" val="779349293"/>
                    </a:ext>
                  </a:extLst>
                </a:gridCol>
                <a:gridCol w="2517476">
                  <a:extLst>
                    <a:ext uri="{9D8B030D-6E8A-4147-A177-3AD203B41FA5}">
                      <a16:colId xmlns:a16="http://schemas.microsoft.com/office/drawing/2014/main" val="3337506544"/>
                    </a:ext>
                  </a:extLst>
                </a:gridCol>
                <a:gridCol w="2517476">
                  <a:extLst>
                    <a:ext uri="{9D8B030D-6E8A-4147-A177-3AD203B41FA5}">
                      <a16:colId xmlns:a16="http://schemas.microsoft.com/office/drawing/2014/main" val="3729492743"/>
                    </a:ext>
                  </a:extLst>
                </a:gridCol>
                <a:gridCol w="2517476">
                  <a:extLst>
                    <a:ext uri="{9D8B030D-6E8A-4147-A177-3AD203B41FA5}">
                      <a16:colId xmlns:a16="http://schemas.microsoft.com/office/drawing/2014/main" val="3777590927"/>
                    </a:ext>
                  </a:extLst>
                </a:gridCol>
              </a:tblGrid>
              <a:tr h="705311">
                <a:tc>
                  <a:txBody>
                    <a:bodyPr/>
                    <a:lstStyle/>
                    <a:p>
                      <a:r>
                        <a:rPr lang="pt-BR" dirty="0"/>
                        <a:t>REGIME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ESPAÇO DE REFERENCIA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 QUE RASTREIA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REGISTRA CONTRA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0174761"/>
                  </a:ext>
                </a:extLst>
              </a:tr>
              <a:tr h="620458">
                <a:tc>
                  <a:txBody>
                    <a:bodyPr/>
                    <a:lstStyle/>
                    <a:p>
                      <a:r>
                        <a:rPr lang="pt-BR" dirty="0"/>
                        <a:t>TELA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Coordenadas da cena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Mouse/toque + câmera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Origem virtual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5690784"/>
                  </a:ext>
                </a:extLst>
              </a:tr>
              <a:tr h="757551">
                <a:tc>
                  <a:txBody>
                    <a:bodyPr/>
                    <a:lstStyle/>
                    <a:p>
                      <a:r>
                        <a:rPr lang="pt-BR" dirty="0"/>
                        <a:t>VR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local-</a:t>
                      </a:r>
                      <a:r>
                        <a:rPr lang="pt-BR" dirty="0" err="1"/>
                        <a:t>floor</a:t>
                      </a:r>
                      <a:r>
                        <a:rPr lang="pt-BR" dirty="0"/>
                        <a:t>/local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Pose + entradas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Chão rastreado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86489243"/>
                  </a:ext>
                </a:extLst>
              </a:tr>
              <a:tr h="845645">
                <a:tc>
                  <a:txBody>
                    <a:bodyPr/>
                    <a:lstStyle/>
                    <a:p>
                      <a:r>
                        <a:rPr lang="pt-BR" dirty="0"/>
                        <a:t>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local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Pose + entradas + superfície	</a:t>
                      </a:r>
                    </a:p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Superfície real / âncora	</a:t>
                      </a:r>
                    </a:p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46844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00684EF2-2DE8-458B-9D53-1C4142F4D1EF}"/>
              </a:ext>
            </a:extLst>
          </p:cNvPr>
          <p:cNvSpPr txBox="1"/>
          <p:nvPr/>
        </p:nvSpPr>
        <p:spPr>
          <a:xfrm>
            <a:off x="1061048" y="5411244"/>
            <a:ext cx="100699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O projeto </a:t>
            </a:r>
            <a:r>
              <a:rPr lang="pt-BR" sz="2400" b="1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não </a:t>
            </a:r>
            <a:r>
              <a:rPr lang="pt-BR" sz="240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presume</a:t>
            </a:r>
            <a:r>
              <a:rPr lang="pt-BR" sz="2400" b="1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 que o aparelho possui determinada capacidade</a:t>
            </a:r>
            <a:r>
              <a:rPr lang="pt-BR" sz="24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. Ele declara o que precisa ser provado em cada regime.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508494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C0016-D4D7-4FE0-B909-A027287FC4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QUE O APARELHO OFEREFCE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A2EC626-26B9-4F4A-8701-BDB35222891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49094" y="1378237"/>
            <a:ext cx="7093812" cy="950021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C33C7EEE-7EEC-4472-9913-FC8CDE52A393}"/>
              </a:ext>
            </a:extLst>
          </p:cNvPr>
          <p:cNvSpPr txBox="1"/>
          <p:nvPr/>
        </p:nvSpPr>
        <p:spPr>
          <a:xfrm>
            <a:off x="1522791" y="2568765"/>
            <a:ext cx="38256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Recursos consultados: </a:t>
            </a:r>
          </a:p>
          <a:p>
            <a:r>
              <a:rPr lang="pt-BR" sz="240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local-</a:t>
            </a:r>
            <a:r>
              <a:rPr lang="pt-BR" sz="2400" i="0" u="none" strike="noStrike" baseline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floor</a:t>
            </a:r>
            <a:r>
              <a:rPr lang="pt-BR" sz="240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pt-BR" sz="240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400" i="0" u="none" strike="noStrike" baseline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bounded-floor</a:t>
            </a:r>
            <a:r>
              <a:rPr lang="pt-BR" sz="240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pt-BR" sz="240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hit-</a:t>
            </a:r>
            <a:r>
              <a:rPr lang="pt-BR" sz="2400" i="0" u="none" strike="noStrike" baseline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test</a:t>
            </a:r>
            <a:r>
              <a:rPr lang="pt-BR" sz="240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pt-BR" sz="240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400" i="0" u="none" strike="noStrike" baseline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anchors</a:t>
            </a:r>
            <a:r>
              <a:rPr lang="pt-BR" sz="240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pt-BR" sz="240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400" i="0" u="none" strike="noStrike" baseline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</a:t>
            </a:r>
            <a:r>
              <a:rPr lang="pt-BR" sz="240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-tracking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B5D0C3CE-BA4E-41FB-9C44-EF0AACFABBF2}"/>
              </a:ext>
            </a:extLst>
          </p:cNvPr>
          <p:cNvSpPr txBox="1"/>
          <p:nvPr/>
        </p:nvSpPr>
        <p:spPr>
          <a:xfrm>
            <a:off x="6861108" y="2568765"/>
            <a:ext cx="382568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pt-BR" sz="240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Ausente </a:t>
            </a:r>
            <a:r>
              <a:rPr lang="pt-BR" sz="240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≠ Negado</a:t>
            </a:r>
          </a:p>
          <a:p>
            <a:pPr algn="l"/>
            <a:r>
              <a:rPr lang="pt-BR" sz="240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pt-BR" sz="240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código diferencia:</a:t>
            </a:r>
            <a:endParaRPr lang="pt-BR" sz="2400" i="0" u="none" strike="noStrike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pt-BR" sz="240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  <a:r>
              <a:rPr lang="pt-BR" sz="24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ausente </a:t>
            </a:r>
            <a:endParaRPr lang="pt-BR" sz="24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negado-ou-bloqueado </a:t>
            </a:r>
            <a:endParaRPr lang="pt-BR" sz="2400" b="0" i="0" u="none" strike="noStrike" baseline="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desconhecido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65CD12B9-57AD-49D4-90E0-FB9A4F80C93C}"/>
              </a:ext>
            </a:extLst>
          </p:cNvPr>
          <p:cNvSpPr txBox="1"/>
          <p:nvPr/>
        </p:nvSpPr>
        <p:spPr>
          <a:xfrm>
            <a:off x="951978" y="5361140"/>
            <a:ext cx="1030892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Se o recurso não aparece como concedido, isso não permite concluir que o aparelho não suporta o recurso. Pode ser suporte, permissão ou informação indisponível. </a:t>
            </a:r>
            <a:endParaRPr lang="pt-BR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48179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AD2541-EA20-4C0F-BEFB-C594E3A3C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A CENA COMO ÁRVORE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FA8D2E95-8515-4DF3-B698-49EA9C0DC8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47777" y="1389975"/>
            <a:ext cx="2496581" cy="2711220"/>
          </a:xfr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1784154-53AB-4964-8077-3DF8F00D1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064" y="1695771"/>
            <a:ext cx="4032927" cy="1903957"/>
          </a:xfrm>
          <a:prstGeom prst="rect">
            <a:avLst/>
          </a:prstGeom>
        </p:spPr>
      </p:pic>
      <p:sp>
        <p:nvSpPr>
          <p:cNvPr id="8" name="CaixaDeTexto 7">
            <a:extLst>
              <a:ext uri="{FF2B5EF4-FFF2-40B4-BE49-F238E27FC236}">
                <a16:creationId xmlns:a16="http://schemas.microsoft.com/office/drawing/2014/main" id="{B7E27B8A-1140-4C3E-9633-70D9EFC72E25}"/>
              </a:ext>
            </a:extLst>
          </p:cNvPr>
          <p:cNvSpPr txBox="1"/>
          <p:nvPr/>
        </p:nvSpPr>
        <p:spPr>
          <a:xfrm>
            <a:off x="1102290" y="4374752"/>
            <a:ext cx="1042165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O parentesco existe porque alguns objetos precisam acompanhar o movimento de seus pais. </a:t>
            </a:r>
          </a:p>
          <a:p>
            <a:endParaRPr lang="pt-BR" sz="240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pt-BR" sz="24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Se tudo fosse armazenado apenas em coordenadas absolutas, mover a placa obrigaria a recalcular manualmente todos os filhos. </a:t>
            </a: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7616183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5AB22C-6C85-4FC9-B550-4CD9BEBEF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637046"/>
          </a:xfrm>
        </p:spPr>
        <p:txBody>
          <a:bodyPr/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TROCAR DE PAI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2E8EF906-0936-4632-B2F2-3A8023BD59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7597" y="1733894"/>
            <a:ext cx="3737998" cy="2743678"/>
          </a:xfr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F9D50C40-AF34-44B8-B8D8-09133098E690}"/>
              </a:ext>
            </a:extLst>
          </p:cNvPr>
          <p:cNvSpPr txBox="1"/>
          <p:nvPr/>
        </p:nvSpPr>
        <p:spPr>
          <a:xfrm>
            <a:off x="4182628" y="1777236"/>
            <a:ext cx="4113779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Antes </a:t>
            </a:r>
            <a:endParaRPr lang="pt-BR" sz="2000" b="0" i="0" u="none" strike="noStrike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 A → posição mundial (x, y, z) </a:t>
            </a:r>
          </a:p>
          <a:p>
            <a:r>
              <a:rPr lang="pt-BR" sz="20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pt-BR" sz="2000" b="1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Troca de pai </a:t>
            </a:r>
            <a:endParaRPr lang="pt-BR" sz="2000" b="0" i="0" u="none" strike="noStrike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0" u="none" strike="noStrike" baseline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Mlocal</a:t>
            </a:r>
            <a:r>
              <a:rPr lang="pt-BR" sz="20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= MnovoPai⁻¹ × </a:t>
            </a:r>
            <a:r>
              <a:rPr lang="pt-BR" sz="2000" b="0" i="0" u="none" strike="noStrike" baseline="0" dirty="0" err="1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Mmundo</a:t>
            </a:r>
            <a:r>
              <a:rPr lang="pt-BR" sz="20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pt-BR" sz="20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↓</a:t>
            </a:r>
          </a:p>
          <a:p>
            <a:r>
              <a:rPr lang="pt-BR" sz="2000" b="1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Depois </a:t>
            </a:r>
            <a:endParaRPr lang="pt-BR" sz="2000" b="0" i="0" u="none" strike="noStrike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0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Pai B → mesma posição mundial </a:t>
            </a:r>
            <a:endParaRPr lang="pt-B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BA38FBA-A235-439B-9856-51EF74C9C878}"/>
              </a:ext>
            </a:extLst>
          </p:cNvPr>
          <p:cNvSpPr txBox="1"/>
          <p:nvPr/>
        </p:nvSpPr>
        <p:spPr>
          <a:xfrm>
            <a:off x="8539360" y="2085012"/>
            <a:ext cx="302294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Antes</a:t>
            </a:r>
            <a:r>
              <a:rPr lang="es-ES" sz="24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(x, y, z) m </a:t>
            </a:r>
          </a:p>
          <a:p>
            <a:endParaRPr lang="pt-BR" sz="2400" b="0" i="0" u="none" strike="noStrike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b="1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Depois</a:t>
            </a:r>
            <a:r>
              <a:rPr lang="pt-BR" sz="24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(x, y, z) m </a:t>
            </a:r>
          </a:p>
          <a:p>
            <a:endParaRPr lang="pt-BR" sz="2400" b="0" i="0" u="none" strike="noStrike" baseline="0" dirty="0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pt-BR" sz="2400" b="1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Desvio</a:t>
            </a:r>
            <a:r>
              <a:rPr lang="pt-BR" sz="24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... × 10⁻ⁿ m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FB0D8B9-18E5-4B85-B57E-BC7EFDBFAB3F}"/>
              </a:ext>
            </a:extLst>
          </p:cNvPr>
          <p:cNvSpPr txBox="1"/>
          <p:nvPr/>
        </p:nvSpPr>
        <p:spPr>
          <a:xfrm>
            <a:off x="603337" y="5165044"/>
            <a:ext cx="1098532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Recalcular a posição manualmente a cada mudança de pai aumenta a quantidade de relações que precisamos controlar. A matriz permite preservar a transformação mundial durante a troca.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1831770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D566DC-8FC1-42A6-9660-AE06B5332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RELÓGIO E O QUE FALTA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9F66F3A-4B14-45A7-A585-065DD81AC023}"/>
              </a:ext>
            </a:extLst>
          </p:cNvPr>
          <p:cNvSpPr txBox="1"/>
          <p:nvPr/>
        </p:nvSpPr>
        <p:spPr>
          <a:xfrm>
            <a:off x="530602" y="1565619"/>
            <a:ext cx="1127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Relógio: 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0D91406-BCE5-453F-B3C7-AA57EEABCD4D}"/>
              </a:ext>
            </a:extLst>
          </p:cNvPr>
          <p:cNvSpPr txBox="1"/>
          <p:nvPr/>
        </p:nvSpPr>
        <p:spPr>
          <a:xfrm>
            <a:off x="4853149" y="1565619"/>
            <a:ext cx="11273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Laço: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179E4D0-5AD0-4F1C-B598-39CC2D043A82}"/>
              </a:ext>
            </a:extLst>
          </p:cNvPr>
          <p:cNvSpPr txBox="1"/>
          <p:nvPr/>
        </p:nvSpPr>
        <p:spPr>
          <a:xfrm>
            <a:off x="8531625" y="1565619"/>
            <a:ext cx="156157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Indicador: 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080BCCFB-7652-42CE-AF38-F913EF349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02" y="2138901"/>
            <a:ext cx="3757820" cy="1679815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8F51C2D-84C5-4207-B7A1-7C99E11EB6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149" y="2126241"/>
            <a:ext cx="3202032" cy="1692475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F98B949-85D1-485C-80D0-76EA978799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0514" y="2138901"/>
            <a:ext cx="2905375" cy="1679815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007A0CFE-D14E-4139-8DC7-555377E205EF}"/>
              </a:ext>
            </a:extLst>
          </p:cNvPr>
          <p:cNvSpPr txBox="1"/>
          <p:nvPr/>
        </p:nvSpPr>
        <p:spPr>
          <a:xfrm>
            <a:off x="646111" y="4258849"/>
            <a:ext cx="508105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A lógica usa tempo transcorrido, não quantidade de quadros. Assim, uma máquina que renderiza 30 FPS não faz o objeto se mover duas vezes mais devagar que uma de 60 FPS.</a:t>
            </a:r>
            <a:endParaRPr lang="pt-BR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E8841B39-C04E-4C0E-B782-2B9CA137D297}"/>
              </a:ext>
            </a:extLst>
          </p:cNvPr>
          <p:cNvSpPr txBox="1"/>
          <p:nvPr/>
        </p:nvSpPr>
        <p:spPr>
          <a:xfrm>
            <a:off x="6454165" y="4305015"/>
            <a:ext cx="5081058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Ainda falta:</a:t>
            </a:r>
            <a:endParaRPr lang="pt-BR" sz="2000" b="0" i="0" u="none" strike="noStrike" baseline="0" dirty="0">
              <a:solidFill>
                <a:srgbClr val="FFFFFF"/>
              </a:solidFill>
              <a:latin typeface="Arial" panose="020B0604020202020204" pitchFamily="34" charset="0"/>
            </a:endParaRPr>
          </a:p>
          <a:p>
            <a:r>
              <a:rPr lang="pt-BR" sz="20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Implementação final do encaixe dos disjuntores;</a:t>
            </a:r>
          </a:p>
          <a:p>
            <a:r>
              <a:rPr lang="pt-BR" sz="2000" dirty="0">
                <a:solidFill>
                  <a:srgbClr val="FFFFFF"/>
                </a:solidFill>
                <a:latin typeface="Arial" panose="020B0604020202020204" pitchFamily="34" charset="0"/>
              </a:rPr>
              <a:t>V</a:t>
            </a:r>
            <a:r>
              <a:rPr lang="pt-BR" sz="20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alidação das tolerâncias;</a:t>
            </a:r>
          </a:p>
          <a:p>
            <a:r>
              <a:rPr lang="pt-BR" sz="2000" dirty="0">
                <a:solidFill>
                  <a:srgbClr val="FFFFFF"/>
                </a:solidFill>
                <a:latin typeface="Arial" panose="020B0604020202020204" pitchFamily="34" charset="0"/>
              </a:rPr>
              <a:t>M</a:t>
            </a:r>
            <a:r>
              <a:rPr lang="pt-BR" sz="20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ontagem efetiva em VR/AR;</a:t>
            </a:r>
          </a:p>
          <a:p>
            <a:r>
              <a:rPr lang="pt-BR" sz="2000" dirty="0">
                <a:solidFill>
                  <a:srgbClr val="FFFFFF"/>
                </a:solidFill>
                <a:latin typeface="Arial" panose="020B0604020202020204" pitchFamily="34" charset="0"/>
              </a:rPr>
              <a:t>M</a:t>
            </a:r>
            <a:r>
              <a:rPr lang="pt-BR" sz="2000" b="0" i="0" u="none" strike="noStrike" baseline="0" dirty="0">
                <a:solidFill>
                  <a:srgbClr val="FFFFFF"/>
                </a:solidFill>
                <a:latin typeface="Arial" panose="020B0604020202020204" pitchFamily="34" charset="0"/>
              </a:rPr>
              <a:t>edição de GPU.</a:t>
            </a:r>
          </a:p>
          <a:p>
            <a:endParaRPr lang="pt-BR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396936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70</TotalTime>
  <Words>482</Words>
  <Application>Microsoft Office PowerPoint</Application>
  <PresentationFormat>Widescreen</PresentationFormat>
  <Paragraphs>85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Íon</vt:lpstr>
      <vt:lpstr>QUADRO ELÉTRICO EM TRILHO</vt:lpstr>
      <vt:lpstr>A CENA E A TAREFA</vt:lpstr>
      <vt:lpstr>OS TRÊS REGIMES</vt:lpstr>
      <vt:lpstr>O QUE O APARELHO OFEREFCE</vt:lpstr>
      <vt:lpstr>A CENA COMO ÁRVORE</vt:lpstr>
      <vt:lpstr>TROCAR DE PAI</vt:lpstr>
      <vt:lpstr>RELÓGIO E O QUE FALTA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QUADRO ELÉTRICO EM TRILHO</dc:title>
  <dc:creator>quait u.u</dc:creator>
  <cp:lastModifiedBy>quait u.u</cp:lastModifiedBy>
  <cp:revision>8</cp:revision>
  <dcterms:created xsi:type="dcterms:W3CDTF">2026-09-27T18:48:22Z</dcterms:created>
  <dcterms:modified xsi:type="dcterms:W3CDTF">2026-09-27T19:59:08Z</dcterms:modified>
</cp:coreProperties>
</file>